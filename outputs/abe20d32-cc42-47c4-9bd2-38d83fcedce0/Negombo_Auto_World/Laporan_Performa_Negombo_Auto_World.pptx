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31750">
              <a:solidFill>
                <a:srgbClr val="1890FF"/>
              </a:solidFill>
            </a:ln>
          </c:spPr>
          <c:cat>
            <c:strRef>
              <c:f>Sheet1!$A$2:$A$19</c:f>
              <c:strCache>
                <c:ptCount val="18"/>
                <c:pt idx="0">
                  <c:v>Jan 2022</c:v>
                </c:pt>
                <c:pt idx="1">
                  <c:v>Feb 2022</c:v>
                </c:pt>
                <c:pt idx="2">
                  <c:v>Mar 2022</c:v>
                </c:pt>
                <c:pt idx="3">
                  <c:v>Apr 2022</c:v>
                </c:pt>
                <c:pt idx="4">
                  <c:v>May 2022</c:v>
                </c:pt>
                <c:pt idx="5">
                  <c:v>Jun 2022</c:v>
                </c:pt>
                <c:pt idx="6">
                  <c:v>Jul 2022</c:v>
                </c:pt>
                <c:pt idx="7">
                  <c:v>Aug 2022</c:v>
                </c:pt>
                <c:pt idx="8">
                  <c:v>Sep 2022</c:v>
                </c:pt>
                <c:pt idx="9">
                  <c:v>Oct 2022</c:v>
                </c:pt>
                <c:pt idx="10">
                  <c:v>Nov 2022</c:v>
                </c:pt>
                <c:pt idx="11">
                  <c:v>Dec 2022</c:v>
                </c:pt>
                <c:pt idx="12">
                  <c:v>Jan 2023</c:v>
                </c:pt>
                <c:pt idx="13">
                  <c:v>Feb 2023</c:v>
                </c:pt>
                <c:pt idx="14">
                  <c:v>Mar 2023</c:v>
                </c:pt>
                <c:pt idx="15">
                  <c:v>Apr 2023</c:v>
                </c:pt>
                <c:pt idx="16">
                  <c:v>May 2023</c:v>
                </c:pt>
                <c:pt idx="17">
                  <c:v>Jun 2023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587</c:v>
                </c:pt>
                <c:pt idx="1">
                  <c:v>499</c:v>
                </c:pt>
                <c:pt idx="2">
                  <c:v>588</c:v>
                </c:pt>
                <c:pt idx="3">
                  <c:v>568</c:v>
                </c:pt>
                <c:pt idx="4">
                  <c:v>532</c:v>
                </c:pt>
                <c:pt idx="5">
                  <c:v>560</c:v>
                </c:pt>
                <c:pt idx="6">
                  <c:v>588</c:v>
                </c:pt>
                <c:pt idx="7">
                  <c:v>562</c:v>
                </c:pt>
                <c:pt idx="8">
                  <c:v>538</c:v>
                </c:pt>
                <c:pt idx="9">
                  <c:v>538</c:v>
                </c:pt>
                <c:pt idx="10">
                  <c:v>577</c:v>
                </c:pt>
                <c:pt idx="11">
                  <c:v>596</c:v>
                </c:pt>
                <c:pt idx="12">
                  <c:v>589</c:v>
                </c:pt>
                <c:pt idx="13">
                  <c:v>495</c:v>
                </c:pt>
                <c:pt idx="14">
                  <c:v>569</c:v>
                </c:pt>
                <c:pt idx="15">
                  <c:v>537</c:v>
                </c:pt>
                <c:pt idx="16">
                  <c:v>580</c:v>
                </c:pt>
                <c:pt idx="17">
                  <c:v>524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Hyundai</c:v>
                </c:pt>
                <c:pt idx="1">
                  <c:v>Suzuki</c:v>
                </c:pt>
                <c:pt idx="2">
                  <c:v>Honda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1690</c:v>
                </c:pt>
                <c:pt idx="1">
                  <c:v>1685</c:v>
                </c:pt>
                <c:pt idx="2">
                  <c:v>1678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Pajero</c:v>
                </c:pt>
                <c:pt idx="1">
                  <c:v>Elantra</c:v>
                </c:pt>
                <c:pt idx="2">
                  <c:v>Swift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583</c:v>
                </c:pt>
                <c:pt idx="1">
                  <c:v>579</c:v>
                </c:pt>
                <c:pt idx="2">
                  <c:v>577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5003</c:v>
                </c:pt>
                <c:pt idx="1">
                  <c:v>5024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Bank Loan</c:v>
                </c:pt>
                <c:pt idx="1">
                  <c:v>Cash</c:v>
                </c:pt>
                <c:pt idx="2">
                  <c:v>Leasing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3369</c:v>
                </c:pt>
                <c:pt idx="1">
                  <c:v>3372</c:v>
                </c:pt>
                <c:pt idx="2">
                  <c:v>3286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Segoe UI"/>
              </a:defRPr>
            </a:pPr>
            <a:r>
              <a:t>Car Sales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10K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028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85.1bn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Vehicle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383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65960"/>
            <a:ext cx="11155680" cy="214884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965960"/>
            <a:ext cx="11155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Monthly Sales Trend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2331720"/>
          <a:ext cx="1097280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ectangle 23"/>
          <p:cNvSpPr/>
          <p:nvPr/>
        </p:nvSpPr>
        <p:spPr>
          <a:xfrm>
            <a:off x="365760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Brand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11480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ectangle 26"/>
          <p:cNvSpPr/>
          <p:nvPr/>
        </p:nvSpPr>
        <p:spPr>
          <a:xfrm>
            <a:off x="2167128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7128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Model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2212848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3968496" y="4206240"/>
            <a:ext cx="1874519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8496" y="4206240"/>
            <a:ext cx="1874519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Transmission Type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014216" y="4572000"/>
          <a:ext cx="1783079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ectangle 32"/>
          <p:cNvSpPr/>
          <p:nvPr/>
        </p:nvSpPr>
        <p:spPr>
          <a:xfrm>
            <a:off x="5952743" y="4206240"/>
            <a:ext cx="201168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52743" y="4206240"/>
            <a:ext cx="2011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Payment Type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998463" y="4572000"/>
          <a:ext cx="1920240" cy="2011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Rectangle 35"/>
          <p:cNvSpPr/>
          <p:nvPr/>
        </p:nvSpPr>
        <p:spPr>
          <a:xfrm>
            <a:off x="8074151" y="4206240"/>
            <a:ext cx="35204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1" y="4206240"/>
            <a:ext cx="35204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Discount and Final Price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165591" y="4617720"/>
          <a:ext cx="3337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40"/>
                <a:gridCol w="1188720"/>
              </a:tblGrid>
              <a:tr h="2612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Car_Model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Final Price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Alto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8,740,968.34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Aqua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8,552,044.00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CR-V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8,431,390.65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Civic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8,444,175.71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Corolla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8,155,569.10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Elantra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8,568,743.91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